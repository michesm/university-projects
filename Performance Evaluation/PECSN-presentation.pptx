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8" r:id="rId6"/>
    <p:sldId id="267" r:id="rId7"/>
    <p:sldId id="269" r:id="rId8"/>
    <p:sldId id="262" r:id="rId9"/>
    <p:sldId id="274" r:id="rId10"/>
    <p:sldId id="265" r:id="rId11"/>
    <p:sldId id="275" r:id="rId12"/>
    <p:sldId id="272" r:id="rId13"/>
    <p:sldId id="273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8EC84-6EF8-4CF3-A8DC-D3AAB2FD3258}" v="27" dt="2026-01-14T20:55:40.841"/>
    <p1510:client id="{0E0BAC2A-AF7C-463D-BCC7-F884D7F279D5}" v="164" dt="2026-01-15T10:01:28.968"/>
    <p1510:client id="{C997A7E0-7B46-054D-2F70-350ABCEA552B}" v="20" dt="2026-01-15T15:53:23.039"/>
    <p1510:client id="{FFD7F8CE-3D4F-368C-E16D-1BB66F17AA0D}" v="1" dt="2026-01-14T19:27:5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8F607-9804-437C-8747-38784E4177CE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B13FA-DE42-4779-8958-1DE761283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43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B13FA-DE42-4779-8958-1DE7612833F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968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B13FA-DE42-4779-8958-1DE7612833F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49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CF9C-5DB4-5F3C-E2AE-9F05AF5D9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3ABCB-E22C-5F35-751D-0F4930BF0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DA36-778F-9385-D6C9-AA53FE69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6C7B4-1AF6-050F-67B1-EA0EB073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ADDB9-0571-1B8C-4379-30C6F2C2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66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DCC2-EFBA-3468-A5A9-BA64D4DF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8D16C-4380-561C-4208-D03C42DF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17CBA-62A0-A5E2-8C00-4560F0E7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58519-F34A-8226-5095-A89C5F18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1165F-6525-EE20-6428-4199F2CA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09B4-A00F-ED5B-39AE-5D86B79F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9D46-D2F3-FB7B-4259-6A1A8DFB9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D296F-A852-0B5D-5573-351EE9F9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9761E-B889-6B45-F763-BA3CAA60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3F33-C618-2EA1-26F3-02D499FE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2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478C-97C2-6936-A049-D3A590E7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70345-39EB-2352-EC6E-65AB0A7F9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EFCB5-3B45-8025-F68F-44AB89594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CA980-D89C-FB05-215E-73A69091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1661-1024-E815-A2B2-203D315B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0BEFA-5DFA-6085-6DCE-B6D2F7D1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6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5AF3-0324-18F9-55E2-5C60CC0B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9C9E-5609-41BC-988E-D574B9AD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38B82-6556-6B1E-567D-F58FF6A58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34A7E-5830-AA05-B259-FB9B4EE3E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3E511-70A1-1B9D-3C5A-CC0EF408F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DBBE4-3F37-92A6-F1F7-398CBD0F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79867-6A60-BFD0-4B2D-A5CE65E9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EADDD-ACBE-D64D-73EE-A5DEF63A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6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E54C-B2F1-336C-31CD-1D87F1CB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CC1C2-0E23-2A29-7211-F70D2854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4BFAB-2739-1EE3-194B-126F8526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B1682-4A5D-F5A8-5A6B-0A4E22B0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9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EEEDC-1876-348D-781F-CED57442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56B41-B5F4-6ABA-60D0-70BD64E1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1BE5C-6068-8C06-C815-BED997CE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2CF7-34DE-AF69-A4EF-B8A5EF39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2C2D-550B-24EE-8FE4-08B16325D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C1FCA-023F-62A9-FB18-C97F11623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403BF-842D-F0A4-76BD-40B7DF35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BB279-BE98-4112-E5C0-0B1C7A029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EAC67-B404-9E1D-CDDD-C141B951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9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624B-39D9-F078-2164-9B48AC3C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58574-F04A-8DE7-6DFA-D1BE2176D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83EFA-5D86-0529-B087-23E4D957D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0F475-0003-34EC-E188-B3D4EFCC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2CC4B-7744-B242-0F4D-D0F45693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60AFA-8403-C6A0-2FF3-ABC9AA14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4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BB40-F812-41BB-EA4F-85465654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4A4AE-8110-256E-E9EA-4C95B2B12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E3E87-1567-6A0B-FD93-FA404B35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8F20-6378-A0BC-D863-0B05DF8A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9DBC-9BB5-35AB-705D-A6D7BAE4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3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41CBD-3F5F-FF34-9C80-01961196C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B771F-8047-781B-A173-5ABA140D8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F40E6-CEC6-9A2D-6A21-F86298065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CD82-EBE9-AA73-5653-9A388569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3883-2BCC-2C37-B70F-DBB11112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37DE5-60D9-3F19-357B-0254DF1C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000F8-7D20-0B0F-15E5-2D9F14AB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B8DD-7E9F-B90B-A518-0854EC735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FF6CF-0777-4D72-8C1F-D19BD9B9164E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8502-0694-31C0-BA93-4F22584A2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7D1D0-6224-DFB2-9D48-4B0DF08AF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9E967-CE48-4DA9-AD4B-7CFCCD0BA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0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ogo with a child's face&#10;&#10;AI-generated content may be incorrect.">
            <a:extLst>
              <a:ext uri="{FF2B5EF4-FFF2-40B4-BE49-F238E27FC236}">
                <a16:creationId xmlns:a16="http://schemas.microsoft.com/office/drawing/2014/main" id="{93B30CB4-A078-A3E9-C0EA-4897B9DAD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841" y="247907"/>
            <a:ext cx="2050318" cy="2089814"/>
          </a:xfrm>
          <a:prstGeom prst="rect">
            <a:avLst/>
          </a:prstGeom>
        </p:spPr>
      </p:pic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C768F505-E96B-6119-ED4D-A8EBA55853BE}"/>
              </a:ext>
            </a:extLst>
          </p:cNvPr>
          <p:cNvSpPr txBox="1"/>
          <p:nvPr/>
        </p:nvSpPr>
        <p:spPr>
          <a:xfrm>
            <a:off x="2889150" y="2721000"/>
            <a:ext cx="6413700" cy="7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6D9EEB"/>
                </a:solidFill>
              </a:rPr>
              <a:t>Performance Evaluation of Computer Systems and Networks</a:t>
            </a:r>
            <a:endParaRPr sz="1700">
              <a:solidFill>
                <a:srgbClr val="6D9EEB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rgbClr val="6D9EEB"/>
                </a:solidFill>
              </a:rPr>
              <a:t>AA 2025 - 2026</a:t>
            </a:r>
            <a:endParaRPr sz="1700">
              <a:solidFill>
                <a:srgbClr val="6D9EEB"/>
              </a:solidFill>
            </a:endParaRPr>
          </a:p>
        </p:txBody>
      </p:sp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BBF5312E-F2C4-01EA-CF64-F12A09B4648F}"/>
              </a:ext>
            </a:extLst>
          </p:cNvPr>
          <p:cNvSpPr txBox="1">
            <a:spLocks noGrp="1"/>
          </p:cNvSpPr>
          <p:nvPr/>
        </p:nvSpPr>
        <p:spPr>
          <a:xfrm>
            <a:off x="2334900" y="3627353"/>
            <a:ext cx="75222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3538C"/>
                </a:solidFill>
              </a:rPr>
              <a:t>Fragmenting Wireless Link</a:t>
            </a:r>
            <a:endParaRPr>
              <a:solidFill>
                <a:srgbClr val="03538C"/>
              </a:solidFill>
            </a:endParaRPr>
          </a:p>
        </p:txBody>
      </p:sp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29F71570-F7FB-D8ED-B89C-72BCFDA4155E}"/>
              </a:ext>
            </a:extLst>
          </p:cNvPr>
          <p:cNvSpPr txBox="1">
            <a:spLocks noGrp="1"/>
          </p:cNvSpPr>
          <p:nvPr/>
        </p:nvSpPr>
        <p:spPr>
          <a:xfrm>
            <a:off x="4335403" y="4653486"/>
            <a:ext cx="3521193" cy="176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/>
            <a:r>
              <a:rPr lang="it-IT">
                <a:solidFill>
                  <a:srgbClr val="03538C"/>
                </a:solidFill>
              </a:rPr>
              <a:t>Mykhaylo Semenyshen</a:t>
            </a:r>
          </a:p>
          <a:p>
            <a:pPr marL="0" lvl="0" indent="0"/>
            <a:endParaRPr lang="it-IT">
              <a:solidFill>
                <a:srgbClr val="03538C"/>
              </a:solidFill>
            </a:endParaRPr>
          </a:p>
          <a:p>
            <a:pPr marL="0" lvl="0" indent="0"/>
            <a:r>
              <a:rPr lang="it-IT">
                <a:solidFill>
                  <a:srgbClr val="03538C"/>
                </a:solidFill>
              </a:rPr>
              <a:t> Tommaso Ottali</a:t>
            </a:r>
          </a:p>
          <a:p>
            <a:pPr marL="0" lvl="0" indent="0"/>
            <a:endParaRPr lang="it-IT">
              <a:solidFill>
                <a:srgbClr val="03538C"/>
              </a:solidFill>
            </a:endParaRPr>
          </a:p>
          <a:p>
            <a:pPr marL="0" lvl="0" indent="0"/>
            <a:r>
              <a:rPr lang="it-IT">
                <a:solidFill>
                  <a:srgbClr val="03538C"/>
                </a:solidFill>
              </a:rPr>
              <a:t>Luca Di Gasparro</a:t>
            </a:r>
            <a:endParaRPr>
              <a:solidFill>
                <a:srgbClr val="03538C"/>
              </a:solidFill>
              <a:highlight>
                <a:schemeClr val="l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724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circle in the dark&#10;&#10;AI-generated content may be incorrect.">
            <a:extLst>
              <a:ext uri="{FF2B5EF4-FFF2-40B4-BE49-F238E27FC236}">
                <a16:creationId xmlns:a16="http://schemas.microsoft.com/office/drawing/2014/main" id="{243E524A-AD8F-3876-DA65-BB4FAEAE6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822" y="1089532"/>
            <a:ext cx="6908684" cy="3442800"/>
          </a:xfrm>
          <a:prstGeom prst="rect">
            <a:avLst/>
          </a:prstGeom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595A65B0-C11D-C2DE-B22B-8450DD523D7E}"/>
              </a:ext>
            </a:extLst>
          </p:cNvPr>
          <p:cNvSpPr txBox="1">
            <a:spLocks noGrp="1"/>
          </p:cNvSpPr>
          <p:nvPr/>
        </p:nvSpPr>
        <p:spPr>
          <a:xfrm>
            <a:off x="271305" y="1216270"/>
            <a:ext cx="5764405" cy="15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23850" algn="just">
              <a:buSzPts val="1500"/>
            </a:pPr>
            <a:r>
              <a:rPr lang="it" sz="1400" b="1"/>
              <a:t>Transmitter</a:t>
            </a:r>
            <a:r>
              <a:rPr lang="it" sz="1400"/>
              <a:t> divides packets into fragments of size </a:t>
            </a:r>
            <a:r>
              <a:rPr lang="it" sz="1400" b="1"/>
              <a:t>P </a:t>
            </a:r>
            <a:r>
              <a:rPr lang="en-US" sz="1400"/>
              <a:t>and a</a:t>
            </a:r>
            <a:r>
              <a:rPr lang="it" sz="1400"/>
              <a:t>dds a header of size </a:t>
            </a:r>
            <a:r>
              <a:rPr lang="it" sz="1400" b="1"/>
              <a:t>H</a:t>
            </a:r>
          </a:p>
          <a:p>
            <a:pPr indent="-323850" algn="just">
              <a:buSzPts val="1500"/>
            </a:pPr>
            <a:r>
              <a:rPr lang="it" sz="1400" b="1"/>
              <a:t>Wireless link: </a:t>
            </a:r>
            <a:r>
              <a:rPr lang="en-US" sz="1400"/>
              <a:t>fragments of </a:t>
            </a:r>
            <a:r>
              <a:rPr lang="it" sz="1400"/>
              <a:t>size </a:t>
            </a:r>
            <a:r>
              <a:rPr lang="it" sz="1400" b="1"/>
              <a:t>F</a:t>
            </a:r>
            <a:r>
              <a:rPr lang="it" sz="1400"/>
              <a:t> </a:t>
            </a:r>
            <a:r>
              <a:rPr lang="en-US" sz="1400"/>
              <a:t>= H + P are transmitter at </a:t>
            </a:r>
            <a:r>
              <a:rPr lang="en-US" sz="1400" b="1"/>
              <a:t>C </a:t>
            </a:r>
            <a:r>
              <a:rPr lang="en-US" sz="1400"/>
              <a:t>B/s with </a:t>
            </a:r>
            <a:r>
              <a:rPr lang="en-US" sz="1400" b="1" i="1"/>
              <a:t>a</a:t>
            </a:r>
            <a:r>
              <a:rPr lang="en-US" sz="1400"/>
              <a:t> byte error rate</a:t>
            </a:r>
            <a:endParaRPr lang="it" sz="1400" b="1">
              <a:solidFill>
                <a:srgbClr val="03538C"/>
              </a:solidFill>
            </a:endParaRPr>
          </a:p>
          <a:p>
            <a:pPr indent="-323850" algn="just">
              <a:buSzPts val="1500"/>
            </a:pPr>
            <a:r>
              <a:rPr lang="it" sz="1400" b="1"/>
              <a:t>Receiver</a:t>
            </a:r>
            <a:r>
              <a:rPr lang="it" sz="1400"/>
              <a:t> considers packets corrupt with probability </a:t>
            </a:r>
          </a:p>
          <a:p>
            <a:pPr marL="133350" indent="0" algn="just">
              <a:buSzPts val="1500"/>
              <a:buNone/>
            </a:pPr>
            <a:r>
              <a:rPr lang="it" sz="1400" b="1" i="1"/>
              <a:t>       p</a:t>
            </a:r>
            <a:r>
              <a:rPr lang="it" sz="1400"/>
              <a:t> </a:t>
            </a:r>
            <a:r>
              <a:rPr lang="en-US" sz="1400"/>
              <a:t>= 1 – (1 - </a:t>
            </a:r>
            <a:r>
              <a:rPr lang="el-GR" sz="1400"/>
              <a:t>α</a:t>
            </a:r>
            <a:r>
              <a:rPr lang="en-US" sz="1400"/>
              <a:t>)</a:t>
            </a:r>
            <a:r>
              <a:rPr lang="en-US" sz="1400" baseline="30000"/>
              <a:t>F </a:t>
            </a:r>
            <a:r>
              <a:rPr lang="en-US" sz="1400"/>
              <a:t>and responds with ACK/NACK</a:t>
            </a:r>
            <a:endParaRPr sz="1400" i="1" baseline="300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B4676D-3C1E-D031-E937-72FFC17D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Introduction</a:t>
            </a:r>
            <a:endParaRPr lang="en-US"/>
          </a:p>
        </p:txBody>
      </p:sp>
      <p:sp>
        <p:nvSpPr>
          <p:cNvPr id="2" name="Google Shape;69;p15">
            <a:extLst>
              <a:ext uri="{FF2B5EF4-FFF2-40B4-BE49-F238E27FC236}">
                <a16:creationId xmlns:a16="http://schemas.microsoft.com/office/drawing/2014/main" id="{410F0ED1-14B5-F363-3BFA-ADFA2460FA2E}"/>
              </a:ext>
            </a:extLst>
          </p:cNvPr>
          <p:cNvSpPr txBox="1">
            <a:spLocks noGrp="1"/>
          </p:cNvSpPr>
          <p:nvPr/>
        </p:nvSpPr>
        <p:spPr>
          <a:xfrm>
            <a:off x="271301" y="3437106"/>
            <a:ext cx="5570483" cy="15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it" sz="1400">
                <a:solidFill>
                  <a:schemeClr val="tx1"/>
                </a:solidFill>
              </a:rPr>
              <a:t>Find optimal value of P that minimizes:</a:t>
            </a:r>
          </a:p>
          <a:p>
            <a:pPr lvl="1" indent="-323850" algn="just">
              <a:buSzPts val="1500"/>
            </a:pPr>
            <a:r>
              <a:rPr lang="it">
                <a:solidFill>
                  <a:schemeClr val="tx1"/>
                </a:solidFill>
              </a:rPr>
              <a:t>End-to-End delay of reassembled packets</a:t>
            </a:r>
          </a:p>
          <a:p>
            <a:pPr lvl="1" indent="-323850" algn="just">
              <a:buSzPts val="1500"/>
            </a:pPr>
            <a:r>
              <a:rPr lang="it">
                <a:solidFill>
                  <a:schemeClr val="tx1"/>
                </a:solidFill>
              </a:rPr>
              <a:t>System utilization</a:t>
            </a:r>
          </a:p>
          <a:p>
            <a:pPr indent="-323850" algn="just">
              <a:buSzPts val="1500"/>
            </a:pPr>
            <a:r>
              <a:rPr lang="it" sz="1400">
                <a:solidFill>
                  <a:schemeClr val="tx1"/>
                </a:solidFill>
              </a:rPr>
              <a:t>Estimate optimal buffer size of real transmitter</a:t>
            </a:r>
          </a:p>
          <a:p>
            <a:pPr indent="-323850" algn="just">
              <a:buSzPts val="1500"/>
            </a:pPr>
            <a:r>
              <a:rPr lang="it" sz="1400">
                <a:solidFill>
                  <a:schemeClr val="tx1"/>
                </a:solidFill>
              </a:rPr>
              <a:t>Assess fairness of system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9D9B54-ADA0-142A-0EBD-F60A6D4DBA56}"/>
              </a:ext>
            </a:extLst>
          </p:cNvPr>
          <p:cNvSpPr txBox="1">
            <a:spLocks/>
          </p:cNvSpPr>
          <p:nvPr/>
        </p:nvSpPr>
        <p:spPr>
          <a:xfrm>
            <a:off x="271300" y="2915127"/>
            <a:ext cx="10515600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  Objectives</a:t>
            </a:r>
            <a:endParaRPr lang="en-US" sz="20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CB9C01-3800-0D26-9E28-D22CB37606B4}"/>
              </a:ext>
            </a:extLst>
          </p:cNvPr>
          <p:cNvSpPr txBox="1">
            <a:spLocks/>
          </p:cNvSpPr>
          <p:nvPr/>
        </p:nvSpPr>
        <p:spPr>
          <a:xfrm>
            <a:off x="271302" y="4636294"/>
            <a:ext cx="3315958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 Key performance indices</a:t>
            </a:r>
            <a:endParaRPr lang="en-US" sz="2000" b="1"/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5684ADC-0E4D-8C96-13E0-36CBC1A91A58}"/>
              </a:ext>
            </a:extLst>
          </p:cNvPr>
          <p:cNvSpPr txBox="1">
            <a:spLocks noGrp="1"/>
          </p:cNvSpPr>
          <p:nvPr/>
        </p:nvSpPr>
        <p:spPr>
          <a:xfrm>
            <a:off x="271303" y="5250809"/>
            <a:ext cx="3717893" cy="15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en-US" sz="1400"/>
              <a:t>End-to-end packet delay</a:t>
            </a:r>
            <a:endParaRPr lang="it" sz="1400">
              <a:solidFill>
                <a:srgbClr val="03538C"/>
              </a:solidFill>
            </a:endParaRPr>
          </a:p>
          <a:p>
            <a:pPr lvl="0" indent="-323850" algn="just">
              <a:buSzPts val="1500"/>
            </a:pPr>
            <a:r>
              <a:rPr lang="en-US" sz="1400"/>
              <a:t>Fragments in queue</a:t>
            </a:r>
          </a:p>
          <a:p>
            <a:pPr lvl="0" indent="-323850" algn="just">
              <a:buSzPts val="1500"/>
            </a:pPr>
            <a:r>
              <a:rPr lang="en-US" sz="1400"/>
              <a:t>System utilization </a:t>
            </a:r>
            <a:endParaRPr lang="it" sz="1400">
              <a:solidFill>
                <a:srgbClr val="03538C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ED8435-67E9-7D26-E83C-5283108C031B}"/>
              </a:ext>
            </a:extLst>
          </p:cNvPr>
          <p:cNvSpPr txBox="1">
            <a:spLocks/>
          </p:cNvSpPr>
          <p:nvPr/>
        </p:nvSpPr>
        <p:spPr>
          <a:xfrm>
            <a:off x="6226638" y="4636294"/>
            <a:ext cx="3315958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Factors</a:t>
            </a:r>
            <a:endParaRPr lang="en-US" sz="2000" b="1"/>
          </a:p>
        </p:txBody>
      </p:sp>
      <p:sp>
        <p:nvSpPr>
          <p:cNvPr id="7" name="Google Shape;69;p15">
            <a:extLst>
              <a:ext uri="{FF2B5EF4-FFF2-40B4-BE49-F238E27FC236}">
                <a16:creationId xmlns:a16="http://schemas.microsoft.com/office/drawing/2014/main" id="{EE40F9D8-E48C-7D89-8E69-D0C8C3759C10}"/>
              </a:ext>
            </a:extLst>
          </p:cNvPr>
          <p:cNvSpPr txBox="1">
            <a:spLocks noGrp="1"/>
          </p:cNvSpPr>
          <p:nvPr/>
        </p:nvSpPr>
        <p:spPr>
          <a:xfrm>
            <a:off x="6099355" y="5283929"/>
            <a:ext cx="3717893" cy="15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en-US" sz="1400" b="1"/>
              <a:t>P</a:t>
            </a:r>
            <a:r>
              <a:rPr lang="en-US" sz="1400"/>
              <a:t> – Fragment size</a:t>
            </a:r>
            <a:endParaRPr lang="it" sz="1400">
              <a:solidFill>
                <a:srgbClr val="03538C"/>
              </a:solidFill>
            </a:endParaRPr>
          </a:p>
          <a:p>
            <a:pPr lvl="0" indent="-323850" algn="just">
              <a:buSzPts val="1500"/>
            </a:pPr>
            <a:r>
              <a:rPr lang="el-GR" sz="1400" b="1"/>
              <a:t>α</a:t>
            </a:r>
            <a:r>
              <a:rPr lang="en-US" sz="1400"/>
              <a:t> – Byte Error rate</a:t>
            </a:r>
            <a:endParaRPr lang="it" sz="1400">
              <a:solidFill>
                <a:srgbClr val="0353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86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4E13-1B5D-CA2A-F489-A38D30B4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E696DA0-937D-0941-9FC5-C1C51AC4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Model, Assumption and Implementation</a:t>
            </a:r>
            <a:endParaRPr lang="en-US"/>
          </a:p>
        </p:txBody>
      </p:sp>
      <p:sp>
        <p:nvSpPr>
          <p:cNvPr id="2" name="Google Shape;69;p15">
            <a:extLst>
              <a:ext uri="{FF2B5EF4-FFF2-40B4-BE49-F238E27FC236}">
                <a16:creationId xmlns:a16="http://schemas.microsoft.com/office/drawing/2014/main" id="{509B6F6A-F6F0-DC55-7F94-F08793B3AE42}"/>
              </a:ext>
            </a:extLst>
          </p:cNvPr>
          <p:cNvSpPr txBox="1">
            <a:spLocks noGrp="1"/>
          </p:cNvSpPr>
          <p:nvPr/>
        </p:nvSpPr>
        <p:spPr>
          <a:xfrm>
            <a:off x="817264" y="1805829"/>
            <a:ext cx="11284303" cy="53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The system is modeled as a M/G/1 system with group arrivals due to fragmentation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FBF0C5-4F01-A12C-BD03-8D51F2843B13}"/>
              </a:ext>
            </a:extLst>
          </p:cNvPr>
          <p:cNvSpPr txBox="1">
            <a:spLocks/>
          </p:cNvSpPr>
          <p:nvPr/>
        </p:nvSpPr>
        <p:spPr>
          <a:xfrm>
            <a:off x="817263" y="1325563"/>
            <a:ext cx="1718273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  Model</a:t>
            </a:r>
            <a:endParaRPr lang="en-US" sz="2000" b="1"/>
          </a:p>
        </p:txBody>
      </p:sp>
      <p:sp>
        <p:nvSpPr>
          <p:cNvPr id="8" name="Google Shape;69;p15">
            <a:extLst>
              <a:ext uri="{FF2B5EF4-FFF2-40B4-BE49-F238E27FC236}">
                <a16:creationId xmlns:a16="http://schemas.microsoft.com/office/drawing/2014/main" id="{959B3DCD-028E-3704-BBF2-D2E12282A321}"/>
              </a:ext>
            </a:extLst>
          </p:cNvPr>
          <p:cNvSpPr txBox="1">
            <a:spLocks noGrp="1"/>
          </p:cNvSpPr>
          <p:nvPr/>
        </p:nvSpPr>
        <p:spPr>
          <a:xfrm>
            <a:off x="817265" y="2806626"/>
            <a:ext cx="11284302" cy="11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Fragmentation and reassembly delays are negligeable</a:t>
            </a:r>
          </a:p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System has infinite queue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0DDD4D-734A-7015-FDCE-B23CB9BEB961}"/>
              </a:ext>
            </a:extLst>
          </p:cNvPr>
          <p:cNvSpPr txBox="1">
            <a:spLocks/>
          </p:cNvSpPr>
          <p:nvPr/>
        </p:nvSpPr>
        <p:spPr>
          <a:xfrm>
            <a:off x="817265" y="2288013"/>
            <a:ext cx="2280980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  Assumptions</a:t>
            </a:r>
            <a:endParaRPr lang="en-US" sz="2000" b="1"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06ED5123-9499-D879-19EA-E39448941E4B}"/>
              </a:ext>
            </a:extLst>
          </p:cNvPr>
          <p:cNvSpPr txBox="1">
            <a:spLocks noGrp="1"/>
          </p:cNvSpPr>
          <p:nvPr/>
        </p:nvSpPr>
        <p:spPr>
          <a:xfrm>
            <a:off x="817265" y="4008204"/>
            <a:ext cx="11284302" cy="11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OMNET</a:t>
            </a:r>
            <a:r>
              <a:rPr lang="en-US" sz="2000">
                <a:solidFill>
                  <a:schemeClr val="tx1"/>
                </a:solidFill>
              </a:rPr>
              <a:t>++</a:t>
            </a:r>
          </a:p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Simple modules: Tx and Rx</a:t>
            </a:r>
          </a:p>
          <a:p>
            <a:pPr lvl="0" indent="-323850" algn="just">
              <a:buSzPts val="1500"/>
            </a:pPr>
            <a:r>
              <a:rPr lang="it" sz="2000">
                <a:solidFill>
                  <a:schemeClr val="tx1"/>
                </a:solidFill>
              </a:rPr>
              <a:t>Custom messages exchanged using sendDirect()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B63A245-967B-F935-1869-D54517F78DB9}"/>
              </a:ext>
            </a:extLst>
          </p:cNvPr>
          <p:cNvSpPr txBox="1">
            <a:spLocks/>
          </p:cNvSpPr>
          <p:nvPr/>
        </p:nvSpPr>
        <p:spPr>
          <a:xfrm>
            <a:off x="817265" y="3429000"/>
            <a:ext cx="3456638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  Implementation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72222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783E-AC4E-AFD0-E4F8-0DCB86BA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9122EF8-2FB2-B9E3-9ACF-946219DB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Scenarios</a:t>
            </a:r>
            <a:endParaRPr lang="en-US"/>
          </a:p>
        </p:txBody>
      </p:sp>
      <p:sp>
        <p:nvSpPr>
          <p:cNvPr id="2" name="Google Shape;69;p15">
            <a:extLst>
              <a:ext uri="{FF2B5EF4-FFF2-40B4-BE49-F238E27FC236}">
                <a16:creationId xmlns:a16="http://schemas.microsoft.com/office/drawing/2014/main" id="{168C6955-5853-4D22-F276-C275F752813B}"/>
              </a:ext>
            </a:extLst>
          </p:cNvPr>
          <p:cNvSpPr txBox="1">
            <a:spLocks noGrp="1"/>
          </p:cNvSpPr>
          <p:nvPr/>
        </p:nvSpPr>
        <p:spPr>
          <a:xfrm>
            <a:off x="984734" y="1710276"/>
            <a:ext cx="11284303" cy="53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23850" algn="just">
              <a:buSzPts val="1500"/>
            </a:pPr>
            <a:r>
              <a:rPr lang="en-US" altLang="en-US" sz="2000"/>
              <a:t>Context: </a:t>
            </a:r>
            <a:r>
              <a:rPr lang="en-US" sz="2000"/>
              <a:t>Predictive maintenance (Vibration analysis)</a:t>
            </a:r>
            <a:endParaRPr lang="it" sz="2000">
              <a:solidFill>
                <a:schemeClr val="tx1"/>
              </a:solidFill>
            </a:endParaRPr>
          </a:p>
          <a:p>
            <a:r>
              <a:rPr lang="en-US" sz="2000"/>
              <a:t>Traffic: Large packets (FFT data), High Noise environment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4DD528-820F-F129-1CDF-77F34E691BBC}"/>
              </a:ext>
            </a:extLst>
          </p:cNvPr>
          <p:cNvSpPr txBox="1">
            <a:spLocks/>
          </p:cNvSpPr>
          <p:nvPr/>
        </p:nvSpPr>
        <p:spPr>
          <a:xfrm>
            <a:off x="984733" y="1230010"/>
            <a:ext cx="3647559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Bluetooth Industrial</a:t>
            </a:r>
            <a:endParaRPr lang="en-US" sz="2000" b="1"/>
          </a:p>
        </p:txBody>
      </p:sp>
      <p:sp>
        <p:nvSpPr>
          <p:cNvPr id="8" name="Google Shape;69;p15">
            <a:extLst>
              <a:ext uri="{FF2B5EF4-FFF2-40B4-BE49-F238E27FC236}">
                <a16:creationId xmlns:a16="http://schemas.microsoft.com/office/drawing/2014/main" id="{2BC5CA86-7141-A266-A2EF-A16B8B45C77C}"/>
              </a:ext>
            </a:extLst>
          </p:cNvPr>
          <p:cNvSpPr txBox="1">
            <a:spLocks noGrp="1"/>
          </p:cNvSpPr>
          <p:nvPr/>
        </p:nvSpPr>
        <p:spPr>
          <a:xfrm>
            <a:off x="984733" y="2920706"/>
            <a:ext cx="11284302" cy="11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sz="2000"/>
              <a:t>Context: </a:t>
            </a:r>
            <a:r>
              <a:rPr lang="en-US" sz="2000"/>
              <a:t>Streaming (AAC)</a:t>
            </a:r>
            <a:endParaRPr lang="en-US" altLang="en-US" sz="2000"/>
          </a:p>
          <a:p>
            <a:r>
              <a:rPr lang="en-US" sz="2000"/>
              <a:t>Traffic: Medium packet size, Low Noise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5544B3C-0D5C-2867-D08F-EA1374A04623}"/>
              </a:ext>
            </a:extLst>
          </p:cNvPr>
          <p:cNvSpPr txBox="1">
            <a:spLocks/>
          </p:cNvSpPr>
          <p:nvPr/>
        </p:nvSpPr>
        <p:spPr>
          <a:xfrm>
            <a:off x="984732" y="2402093"/>
            <a:ext cx="3251365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Bluetooth Audio Streaming</a:t>
            </a:r>
            <a:endParaRPr lang="en-US" sz="2000" b="1"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02E13F06-69AB-AE45-4B8B-2DC923FD0FF6}"/>
              </a:ext>
            </a:extLst>
          </p:cNvPr>
          <p:cNvSpPr txBox="1">
            <a:spLocks noGrp="1"/>
          </p:cNvSpPr>
          <p:nvPr/>
        </p:nvSpPr>
        <p:spPr>
          <a:xfrm>
            <a:off x="984733" y="4214178"/>
            <a:ext cx="11284302" cy="11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sz="2000"/>
              <a:t>Context: </a:t>
            </a:r>
            <a:r>
              <a:rPr lang="en-US" sz="2000"/>
              <a:t>Wearable IMUs</a:t>
            </a:r>
            <a:endParaRPr lang="en-US" altLang="en-US" sz="2000"/>
          </a:p>
          <a:p>
            <a:r>
              <a:rPr lang="en-US" sz="2000"/>
              <a:t>Traffic: Small packets, Medium-High Noise (Body shadowing)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D9A0E5-929A-0DB0-EA67-6A5297B55892}"/>
              </a:ext>
            </a:extLst>
          </p:cNvPr>
          <p:cNvSpPr txBox="1">
            <a:spLocks/>
          </p:cNvSpPr>
          <p:nvPr/>
        </p:nvSpPr>
        <p:spPr>
          <a:xfrm>
            <a:off x="984733" y="3634974"/>
            <a:ext cx="3456638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 b="1">
                <a:solidFill>
                  <a:srgbClr val="03538C"/>
                </a:solidFill>
              </a:rPr>
              <a:t> Bluetooth Sensors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82441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4B19-B141-4398-C092-DFF8F997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4E728D-6FAB-402A-FB86-F852ABCC8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425" y="3725584"/>
            <a:ext cx="6609575" cy="5247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" sz="1800">
                <a:solidFill>
                  <a:srgbClr val="03538C"/>
                </a:solidFill>
              </a:rPr>
              <a:t>Discrepancies with theoretical model:</a:t>
            </a:r>
            <a:endParaRPr lang="en-US" sz="1800">
              <a:solidFill>
                <a:srgbClr val="03538C"/>
              </a:solidFill>
            </a:endParaRPr>
          </a:p>
          <a:p>
            <a:r>
              <a:rPr lang="en-US" sz="1800"/>
              <a:t>Errors &lt; 5% in scenarios with high fragmentation</a:t>
            </a:r>
          </a:p>
          <a:p>
            <a:r>
              <a:rPr lang="en-US" sz="1800"/>
              <a:t>Exception: Sensors scenario (mean fragments per packet = 1.5)</a:t>
            </a:r>
          </a:p>
          <a:p>
            <a:pPr lvl="1"/>
            <a:r>
              <a:rPr lang="en-US" sz="1800"/>
              <a:t>Error up to 70% in waiting time</a:t>
            </a:r>
            <a:endParaRPr lang="en-US" altLang="en-US" sz="1800"/>
          </a:p>
          <a:p>
            <a:pPr lvl="1"/>
            <a:r>
              <a:rPr lang="en-US" altLang="en-US" sz="1800"/>
              <a:t>Why? Head-of-Line blocking: full-sized fragments block small tail fragments </a:t>
            </a:r>
          </a:p>
          <a:p>
            <a:pPr lvl="1"/>
            <a:r>
              <a:rPr lang="en-US" sz="1800"/>
              <a:t>Theoretical model assumes “average” fragments, missing heterogeneity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7E6F9B-979B-112C-9F3E-5306465D2630}"/>
              </a:ext>
            </a:extLst>
          </p:cNvPr>
          <p:cNvSpPr txBox="1">
            <a:spLocks/>
          </p:cNvSpPr>
          <p:nvPr/>
        </p:nvSpPr>
        <p:spPr>
          <a:xfrm>
            <a:off x="412604" y="1325563"/>
            <a:ext cx="5629073" cy="5023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" sz="1800">
                <a:solidFill>
                  <a:srgbClr val="03538C"/>
                </a:solidFill>
              </a:rPr>
              <a:t>Internal Consistency</a:t>
            </a:r>
            <a:r>
              <a:rPr lang="en-US" sz="1800">
                <a:solidFill>
                  <a:srgbClr val="03538C"/>
                </a:solidFill>
              </a:rPr>
              <a:t>:</a:t>
            </a:r>
          </a:p>
          <a:p>
            <a:r>
              <a:rPr lang="en-US" sz="1800"/>
              <a:t>Little’s Law: </a:t>
            </a:r>
            <a:r>
              <a:rPr lang="pt-BR" sz="1800"/>
              <a:t>E[N] = λE[R] and E[Nq] = λE[W].</a:t>
            </a:r>
            <a:endParaRPr lang="en-US" sz="1800"/>
          </a:p>
          <a:p>
            <a:r>
              <a:rPr lang="en-US" sz="1800"/>
              <a:t>Utilization: </a:t>
            </a:r>
            <a:r>
              <a:rPr lang="el-GR" sz="1800"/>
              <a:t>ρ = λ</a:t>
            </a:r>
            <a:r>
              <a:rPr lang="en-US" sz="1800"/>
              <a:t>E[</a:t>
            </a:r>
            <a:r>
              <a:rPr lang="en-US" sz="1800" err="1"/>
              <a:t>ts</a:t>
            </a:r>
            <a:r>
              <a:rPr lang="en-US" sz="1800"/>
              <a:t>]</a:t>
            </a:r>
          </a:p>
          <a:p>
            <a:r>
              <a:rPr lang="en-US" sz="1800"/>
              <a:t>Additivity of mean: </a:t>
            </a:r>
            <a:r>
              <a:rPr lang="pt-BR" sz="1800"/>
              <a:t>E[R] = E[W] + E[ts] and E[N] = E[Nq] + ρ.</a:t>
            </a:r>
            <a:endParaRPr lang="en-US" sz="1800"/>
          </a:p>
          <a:p>
            <a:r>
              <a:rPr lang="en-US" sz="1800"/>
              <a:t>Flow consistency: ɣ = </a:t>
            </a:r>
            <a:r>
              <a:rPr lang="el-GR" sz="1800"/>
              <a:t>λ</a:t>
            </a:r>
            <a:r>
              <a:rPr lang="en-US" sz="1800"/>
              <a:t> (throughput equals arrival rate)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Degeneracy Tests</a:t>
            </a:r>
            <a:r>
              <a:rPr lang="it" sz="1800">
                <a:solidFill>
                  <a:srgbClr val="03538C"/>
                </a:solidFill>
              </a:rPr>
              <a:t>:</a:t>
            </a:r>
            <a:endParaRPr lang="en-US" sz="1800"/>
          </a:p>
          <a:p>
            <a:r>
              <a:rPr lang="el-GR" sz="1800"/>
              <a:t>α</a:t>
            </a:r>
            <a:r>
              <a:rPr lang="en-US" sz="1800"/>
              <a:t> = 0: no retransmissions</a:t>
            </a:r>
          </a:p>
          <a:p>
            <a:r>
              <a:rPr lang="el-GR" sz="1800"/>
              <a:t>α</a:t>
            </a:r>
            <a:r>
              <a:rPr lang="en-US" sz="1800"/>
              <a:t> = 1: zero throughput</a:t>
            </a:r>
          </a:p>
          <a:p>
            <a:r>
              <a:rPr lang="en-US" sz="1800"/>
              <a:t>P = 10kB: zero throughput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Consistency:</a:t>
            </a:r>
            <a:endParaRPr lang="en-US" sz="1800"/>
          </a:p>
          <a:p>
            <a:r>
              <a:rPr lang="en-US" sz="1800"/>
              <a:t>Double packet size and double inter-arrival time: same throughput</a:t>
            </a:r>
            <a:endParaRPr lang="en-US" sz="1800">
              <a:solidFill>
                <a:srgbClr val="03538C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AC82CD-1E1A-A941-13CC-713F73282FE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>
                <a:solidFill>
                  <a:srgbClr val="03538C"/>
                </a:solidFill>
              </a:rPr>
              <a:t>  Verification and Validation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C6E2962-80FB-3EE3-F274-3517064AE7EC}"/>
              </a:ext>
            </a:extLst>
          </p:cNvPr>
          <p:cNvSpPr txBox="1">
            <a:spLocks/>
          </p:cNvSpPr>
          <p:nvPr/>
        </p:nvSpPr>
        <p:spPr>
          <a:xfrm>
            <a:off x="5811356" y="1325563"/>
            <a:ext cx="5968040" cy="14864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Continuity:</a:t>
            </a:r>
            <a:endParaRPr lang="en-US" sz="1800"/>
          </a:p>
          <a:p>
            <a:r>
              <a:rPr lang="en-US" sz="1800"/>
              <a:t>Small input perturbations: inter-arrival time, packet size, byte error rate</a:t>
            </a:r>
          </a:p>
          <a:p>
            <a:r>
              <a:rPr lang="en-US" sz="1800"/>
              <a:t>Small output variations: mean delay,  throughput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1641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5198-6397-FB53-60B5-5447263A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D24690-8F5A-DED2-0A90-2AD9D319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Data Analysis Methodology</a:t>
            </a:r>
            <a:endParaRPr lang="en-US"/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632037A3-9027-713D-1EF6-D411BAC2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36" y="440720"/>
            <a:ext cx="5181600" cy="31089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7A6D67-54FF-0AF7-72BD-FBDD308ED209}"/>
              </a:ext>
            </a:extLst>
          </p:cNvPr>
          <p:cNvSpPr txBox="1">
            <a:spLocks/>
          </p:cNvSpPr>
          <p:nvPr/>
        </p:nvSpPr>
        <p:spPr>
          <a:xfrm>
            <a:off x="408158" y="1533490"/>
            <a:ext cx="3647559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400" b="1">
                <a:solidFill>
                  <a:srgbClr val="03538C"/>
                </a:solidFill>
              </a:rPr>
              <a:t>Statistical</a:t>
            </a:r>
            <a:r>
              <a:rPr lang="it" sz="2000" b="1">
                <a:solidFill>
                  <a:srgbClr val="03538C"/>
                </a:solidFill>
              </a:rPr>
              <a:t> </a:t>
            </a:r>
            <a:r>
              <a:rPr lang="it" sz="2400" b="1">
                <a:solidFill>
                  <a:srgbClr val="03538C"/>
                </a:solidFill>
              </a:rPr>
              <a:t>robustness</a:t>
            </a:r>
            <a:endParaRPr lang="en-US" sz="2400" b="1"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85FFA1E8-A33D-F7D8-7992-C1D5AF0BC847}"/>
              </a:ext>
            </a:extLst>
          </p:cNvPr>
          <p:cNvSpPr txBox="1">
            <a:spLocks noGrp="1"/>
          </p:cNvSpPr>
          <p:nvPr/>
        </p:nvSpPr>
        <p:spPr>
          <a:xfrm>
            <a:off x="408158" y="2386409"/>
            <a:ext cx="4845707" cy="308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23850" algn="just">
              <a:buSzPts val="1500"/>
            </a:pPr>
            <a:r>
              <a:rPr lang="en-US" sz="2000"/>
              <a:t>30 replicas with different RNG seeds</a:t>
            </a:r>
          </a:p>
          <a:p>
            <a:pPr indent="-323850" algn="just">
              <a:buSzPts val="1500"/>
            </a:pPr>
            <a:r>
              <a:rPr lang="en-US" sz="2000"/>
              <a:t>3 separate RNG for each simulation</a:t>
            </a:r>
          </a:p>
          <a:p>
            <a:pPr indent="-323850" algn="just">
              <a:buSzPts val="1500"/>
            </a:pPr>
            <a:r>
              <a:rPr lang="en-US" sz="2000"/>
              <a:t>95 % confidence intervals</a:t>
            </a:r>
          </a:p>
          <a:p>
            <a:pPr indent="-323850" algn="just">
              <a:buSzPts val="1500"/>
            </a:pPr>
            <a:r>
              <a:rPr lang="en-US" sz="2000"/>
              <a:t>Warm-up time estimation</a:t>
            </a:r>
          </a:p>
          <a:p>
            <a:pPr indent="-323850" algn="just">
              <a:buSzPts val="1500"/>
            </a:pPr>
            <a:r>
              <a:rPr lang="en-US" sz="2000"/>
              <a:t>Variance convergence check</a:t>
            </a:r>
          </a:p>
        </p:txBody>
      </p:sp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31E2EC14-161B-28DE-B5B1-5AD3FBC0B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36" y="3429000"/>
            <a:ext cx="51816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89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87C27-4E59-9195-73E3-EC36986C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blue and green bars&#10;&#10;AI-generated content may be incorrect.">
            <a:extLst>
              <a:ext uri="{FF2B5EF4-FFF2-40B4-BE49-F238E27FC236}">
                <a16:creationId xmlns:a16="http://schemas.microsoft.com/office/drawing/2014/main" id="{C807A2EA-258B-DE6C-2B24-3279987F4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875" y="1343818"/>
            <a:ext cx="4114801" cy="2468880"/>
          </a:xfrm>
          <a:prstGeom prst="rect">
            <a:avLst/>
          </a:prstGeom>
        </p:spPr>
      </p:pic>
      <p:pic>
        <p:nvPicPr>
          <p:cNvPr id="9" name="Picture 8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EBA226B8-D9D3-615B-BC75-02C6F687D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2" y="1343818"/>
            <a:ext cx="4114802" cy="2468880"/>
          </a:xfrm>
          <a:prstGeom prst="rect">
            <a:avLst/>
          </a:prstGeom>
        </p:spPr>
      </p:pic>
      <p:pic>
        <p:nvPicPr>
          <p:cNvPr id="5" name="Picture 4" descr="A graph of blue and green bars&#10;&#10;AI-generated content may be incorrect.">
            <a:extLst>
              <a:ext uri="{FF2B5EF4-FFF2-40B4-BE49-F238E27FC236}">
                <a16:creationId xmlns:a16="http://schemas.microsoft.com/office/drawing/2014/main" id="{4AED5A2B-54B4-F42B-948B-08AC0490B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330" y="1343818"/>
            <a:ext cx="4114800" cy="246888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4E9EF68-1FA0-75CB-0486-033F1906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End</a:t>
            </a:r>
            <a:r>
              <a:rPr lang="en-US">
                <a:solidFill>
                  <a:srgbClr val="03538C"/>
                </a:solidFill>
              </a:rPr>
              <a:t>-to-End Delay (1/2)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C50D0-2E97-55DB-54D1-CD7250BF7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966" y="4181165"/>
            <a:ext cx="3976548" cy="3027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" sz="1800">
                <a:solidFill>
                  <a:srgbClr val="03538C"/>
                </a:solidFill>
              </a:rPr>
              <a:t>Results:</a:t>
            </a:r>
          </a:p>
          <a:p>
            <a:r>
              <a:rPr lang="en-US" sz="1800"/>
              <a:t>Expected ‘U’ shape</a:t>
            </a:r>
            <a:endParaRPr lang="en-US" sz="1800">
              <a:solidFill>
                <a:srgbClr val="03538C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03538C"/>
                </a:solidFill>
              </a:rPr>
              <a:t>Utilization:</a:t>
            </a:r>
            <a:endParaRPr lang="it" sz="1800">
              <a:solidFill>
                <a:srgbClr val="03538C"/>
              </a:solidFill>
            </a:endParaRPr>
          </a:p>
          <a:p>
            <a:r>
              <a:rPr lang="en-US" sz="1800"/>
              <a:t>Analog results</a:t>
            </a:r>
            <a:endParaRPr lang="en-US" sz="1800">
              <a:solidFill>
                <a:srgbClr val="03538C"/>
              </a:solidFill>
            </a:endParaRPr>
          </a:p>
          <a:p>
            <a:pPr marL="0" indent="0">
              <a:buNone/>
            </a:pPr>
            <a:endParaRPr lang="en-US" sz="1800">
              <a:solidFill>
                <a:srgbClr val="03538C"/>
              </a:solidFill>
            </a:endParaRPr>
          </a:p>
          <a:p>
            <a:endParaRPr lang="it" sz="1800">
              <a:solidFill>
                <a:srgbClr val="03538C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8998924-9483-8BED-3835-EFDE292899FE}"/>
              </a:ext>
            </a:extLst>
          </p:cNvPr>
          <p:cNvSpPr txBox="1">
            <a:spLocks/>
          </p:cNvSpPr>
          <p:nvPr/>
        </p:nvSpPr>
        <p:spPr>
          <a:xfrm>
            <a:off x="4175330" y="4181165"/>
            <a:ext cx="5629072" cy="30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" sz="1800">
                <a:solidFill>
                  <a:srgbClr val="03538C"/>
                </a:solidFill>
              </a:rPr>
              <a:t>Before saturation:</a:t>
            </a:r>
          </a:p>
          <a:p>
            <a:r>
              <a:rPr lang="en-US" sz="1800"/>
              <a:t>Header and protocol overhead dominate</a:t>
            </a:r>
          </a:p>
          <a:p>
            <a:pPr marL="0" indent="0">
              <a:buNone/>
            </a:pPr>
            <a:r>
              <a:rPr lang="it" sz="1800">
                <a:solidFill>
                  <a:srgbClr val="03538C"/>
                </a:solidFill>
              </a:rPr>
              <a:t>At saturation:</a:t>
            </a:r>
          </a:p>
          <a:p>
            <a:r>
              <a:rPr lang="en-US" sz="1800"/>
              <a:t>Optimal balance</a:t>
            </a:r>
            <a:endParaRPr lang="it" sz="1800">
              <a:solidFill>
                <a:srgbClr val="03538C"/>
              </a:solidFill>
            </a:endParaRPr>
          </a:p>
          <a:p>
            <a:pPr marL="0" indent="0">
              <a:buNone/>
            </a:pPr>
            <a:r>
              <a:rPr lang="it" sz="1800">
                <a:solidFill>
                  <a:srgbClr val="03538C"/>
                </a:solidFill>
              </a:rPr>
              <a:t>After saturation:</a:t>
            </a:r>
          </a:p>
          <a:p>
            <a:r>
              <a:rPr lang="en-US" sz="1800"/>
              <a:t>Retransmissions dominate</a:t>
            </a:r>
          </a:p>
        </p:txBody>
      </p:sp>
    </p:spTree>
    <p:extLst>
      <p:ext uri="{BB962C8B-B14F-4D97-AF65-F5344CB8AC3E}">
        <p14:creationId xmlns:p14="http://schemas.microsoft.com/office/powerpoint/2010/main" val="211166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955B-6C83-56E8-D2FB-AC763C09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1B0130A-6887-C7D6-A4CF-D5C8F95E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End</a:t>
            </a:r>
            <a:r>
              <a:rPr lang="en-US">
                <a:solidFill>
                  <a:srgbClr val="03538C"/>
                </a:solidFill>
              </a:rPr>
              <a:t>-to-End Delay (2/2)</a:t>
            </a:r>
            <a:endParaRPr lang="en-US"/>
          </a:p>
        </p:txBody>
      </p:sp>
      <p:pic>
        <p:nvPicPr>
          <p:cNvPr id="3" name="Picture 2" descr="A graph with a blue line&#10;&#10;AI-generated content may be incorrect.">
            <a:extLst>
              <a:ext uri="{FF2B5EF4-FFF2-40B4-BE49-F238E27FC236}">
                <a16:creationId xmlns:a16="http://schemas.microsoft.com/office/drawing/2014/main" id="{7F9FBBCC-283C-31DC-646F-199B19DA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" r="22307"/>
          <a:stretch>
            <a:fillRect/>
          </a:stretch>
        </p:blipFill>
        <p:spPr>
          <a:xfrm>
            <a:off x="8549127" y="3031419"/>
            <a:ext cx="3549536" cy="2286000"/>
          </a:xfrm>
          <a:prstGeom prst="rect">
            <a:avLst/>
          </a:prstGeom>
        </p:spPr>
      </p:pic>
      <p:pic>
        <p:nvPicPr>
          <p:cNvPr id="6" name="Picture 5" descr="A graph with a line graph&#10;&#10;AI-generated content may be incorrect.">
            <a:extLst>
              <a:ext uri="{FF2B5EF4-FFF2-40B4-BE49-F238E27FC236}">
                <a16:creationId xmlns:a16="http://schemas.microsoft.com/office/drawing/2014/main" id="{CB819D00-E376-7B47-031A-F438016F4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98" y="2117019"/>
            <a:ext cx="2393529" cy="3200400"/>
          </a:xfrm>
          <a:prstGeom prst="rect">
            <a:avLst/>
          </a:prstGeom>
        </p:spPr>
      </p:pic>
      <p:pic>
        <p:nvPicPr>
          <p:cNvPr id="10" name="Picture 9" descr="A graph with numbers and a diagram&#10;&#10;AI-generated content may be incorrect.">
            <a:extLst>
              <a:ext uri="{FF2B5EF4-FFF2-40B4-BE49-F238E27FC236}">
                <a16:creationId xmlns:a16="http://schemas.microsoft.com/office/drawing/2014/main" id="{BBED3260-6877-C0DC-8759-09D8909BC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" r="22307"/>
          <a:stretch>
            <a:fillRect/>
          </a:stretch>
        </p:blipFill>
        <p:spPr>
          <a:xfrm>
            <a:off x="2606061" y="3031419"/>
            <a:ext cx="3549537" cy="2286000"/>
          </a:xfrm>
          <a:prstGeom prst="rect">
            <a:avLst/>
          </a:prstGeom>
        </p:spPr>
      </p:pic>
      <p:pic>
        <p:nvPicPr>
          <p:cNvPr id="15" name="Picture 14" descr="A graph with a line graph&#10;&#10;AI-generated content may be incorrect.">
            <a:extLst>
              <a:ext uri="{FF2B5EF4-FFF2-40B4-BE49-F238E27FC236}">
                <a16:creationId xmlns:a16="http://schemas.microsoft.com/office/drawing/2014/main" id="{ECF6850D-2592-8237-65C9-6BB9FBFB2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32" y="2117019"/>
            <a:ext cx="2393529" cy="32004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0EC206E-1CD0-D5BA-7D6A-3F967042AAE6}"/>
              </a:ext>
            </a:extLst>
          </p:cNvPr>
          <p:cNvSpPr txBox="1">
            <a:spLocks/>
          </p:cNvSpPr>
          <p:nvPr/>
        </p:nvSpPr>
        <p:spPr>
          <a:xfrm>
            <a:off x="1409296" y="1343818"/>
            <a:ext cx="3647559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solidFill>
                  <a:srgbClr val="03538C"/>
                </a:solidFill>
              </a:rPr>
              <a:t>S</a:t>
            </a:r>
            <a:r>
              <a:rPr lang="it" sz="2000" b="1">
                <a:solidFill>
                  <a:srgbClr val="03538C"/>
                </a:solidFill>
              </a:rPr>
              <a:t>ensors: optimal low noise</a:t>
            </a:r>
            <a:endParaRPr lang="en-US" sz="2000" b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419914E-6B4C-7B24-CBC0-A99EA73CFCAF}"/>
              </a:ext>
            </a:extLst>
          </p:cNvPr>
          <p:cNvSpPr txBox="1">
            <a:spLocks/>
          </p:cNvSpPr>
          <p:nvPr/>
        </p:nvSpPr>
        <p:spPr>
          <a:xfrm>
            <a:off x="7135147" y="1259689"/>
            <a:ext cx="3647559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solidFill>
                  <a:srgbClr val="03538C"/>
                </a:solidFill>
              </a:rPr>
              <a:t>S</a:t>
            </a:r>
            <a:r>
              <a:rPr lang="it" sz="2000" b="1">
                <a:solidFill>
                  <a:srgbClr val="03538C"/>
                </a:solidFill>
              </a:rPr>
              <a:t>ensors: worst high noise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56738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B4CD-5695-6181-2A64-9EEC5D24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F4A2F4-80A5-50EA-2B86-A7CDEA74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Fairness and Predicatibility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9FB035A-0AB7-85F9-C537-3EDEBDE63A53}"/>
              </a:ext>
            </a:extLst>
          </p:cNvPr>
          <p:cNvSpPr txBox="1">
            <a:spLocks/>
          </p:cNvSpPr>
          <p:nvPr/>
        </p:nvSpPr>
        <p:spPr>
          <a:xfrm>
            <a:off x="365171" y="1343818"/>
            <a:ext cx="7127010" cy="1486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Insight:</a:t>
            </a:r>
            <a:endParaRPr lang="en-US" sz="1800"/>
          </a:p>
          <a:p>
            <a:r>
              <a:rPr lang="en-US" sz="1800"/>
              <a:t>Trade-off: optimizing protocol efficiency through increased fragment size (P) beyond saturation inevitably compromises system delay predictability</a:t>
            </a:r>
          </a:p>
          <a:p>
            <a:r>
              <a:rPr lang="en-US" sz="1800"/>
              <a:t>More accentuated in noisy environments.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D05470-4E3B-29A7-EAA7-0F75DB3DDC6D}"/>
              </a:ext>
            </a:extLst>
          </p:cNvPr>
          <p:cNvSpPr txBox="1">
            <a:spLocks/>
          </p:cNvSpPr>
          <p:nvPr/>
        </p:nvSpPr>
        <p:spPr>
          <a:xfrm>
            <a:off x="365170" y="2867646"/>
            <a:ext cx="7127011" cy="1486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Sensors:</a:t>
            </a:r>
            <a:endParaRPr lang="en-US" sz="1800"/>
          </a:p>
          <a:p>
            <a:r>
              <a:rPr lang="en-US" sz="1800"/>
              <a:t>Packet level predictability (Cov) and fairness (Gini) always decrease with increasing P</a:t>
            </a:r>
          </a:p>
          <a:p>
            <a:r>
              <a:rPr lang="en-US" sz="1800"/>
              <a:t>Small Fragment number: no statistical smoothing</a:t>
            </a:r>
          </a:p>
          <a:p>
            <a:endParaRPr lang="en-US" sz="1800"/>
          </a:p>
          <a:p>
            <a:endParaRPr lang="en-US" sz="180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B3BE6F-809A-C3DF-B3EF-9003B9B18CD1}"/>
              </a:ext>
            </a:extLst>
          </p:cNvPr>
          <p:cNvSpPr txBox="1">
            <a:spLocks/>
          </p:cNvSpPr>
          <p:nvPr/>
        </p:nvSpPr>
        <p:spPr>
          <a:xfrm>
            <a:off x="365170" y="4378032"/>
            <a:ext cx="7511920" cy="14864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solidFill>
                  <a:srgbClr val="03538C"/>
                </a:solidFill>
              </a:rPr>
              <a:t>Industrial and Streaming:</a:t>
            </a:r>
            <a:endParaRPr lang="en-US" sz="1800"/>
          </a:p>
          <a:p>
            <a:r>
              <a:rPr lang="en-US" sz="1800"/>
              <a:t>U shape predictability and fairness with increasing P</a:t>
            </a:r>
          </a:p>
          <a:p>
            <a:r>
              <a:rPr lang="en-US" sz="1800"/>
              <a:t>Large Fragment number: statistical smoothing 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3" name="Picture 2" descr="A graph of a cov&#10;&#10;AI-generated content may be incorrect.">
            <a:extLst>
              <a:ext uri="{FF2B5EF4-FFF2-40B4-BE49-F238E27FC236}">
                <a16:creationId xmlns:a16="http://schemas.microsoft.com/office/drawing/2014/main" id="{A73C8DB1-F2B9-6921-8753-BAA831CF6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741" y="3441450"/>
            <a:ext cx="4564259" cy="3423195"/>
          </a:xfrm>
          <a:prstGeom prst="rect">
            <a:avLst/>
          </a:prstGeom>
        </p:spPr>
      </p:pic>
      <p:pic>
        <p:nvPicPr>
          <p:cNvPr id="6" name="Picture 5" descr="A graph showing the difference between a cov and a packet delay&#10;&#10;AI-generated content may be incorrect.">
            <a:extLst>
              <a:ext uri="{FF2B5EF4-FFF2-40B4-BE49-F238E27FC236}">
                <a16:creationId xmlns:a16="http://schemas.microsoft.com/office/drawing/2014/main" id="{B62B7E6F-31FF-0B83-CD86-7641AB319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740" y="-9504"/>
            <a:ext cx="4564260" cy="342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65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4646-98ED-ED03-6202-CD14442C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F01174A5-F13F-5363-F4CC-57AF3A49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Buffer Size Estimation</a:t>
            </a:r>
            <a:endParaRPr lang="en-US"/>
          </a:p>
        </p:txBody>
      </p:sp>
      <p:sp>
        <p:nvSpPr>
          <p:cNvPr id="2" name="Google Shape;69;p15">
            <a:extLst>
              <a:ext uri="{FF2B5EF4-FFF2-40B4-BE49-F238E27FC236}">
                <a16:creationId xmlns:a16="http://schemas.microsoft.com/office/drawing/2014/main" id="{001F785B-62EE-DC99-19EE-206D474061F0}"/>
              </a:ext>
            </a:extLst>
          </p:cNvPr>
          <p:cNvSpPr txBox="1">
            <a:spLocks noGrp="1"/>
          </p:cNvSpPr>
          <p:nvPr/>
        </p:nvSpPr>
        <p:spPr>
          <a:xfrm>
            <a:off x="641637" y="1547516"/>
            <a:ext cx="4343318" cy="17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23850" algn="just">
              <a:buSzPts val="1500"/>
            </a:pPr>
            <a:r>
              <a:rPr lang="en-US" sz="2000"/>
              <a:t>50 – 80 kB</a:t>
            </a:r>
          </a:p>
          <a:p>
            <a:pPr indent="-323850" algn="just">
              <a:buSzPts val="1500"/>
            </a:pPr>
            <a:r>
              <a:rPr lang="en-US" sz="2000"/>
              <a:t>Feasible for modern sensors</a:t>
            </a:r>
          </a:p>
          <a:p>
            <a:pPr indent="-323850" algn="just">
              <a:buSzPts val="1500"/>
            </a:pPr>
            <a:r>
              <a:rPr lang="en-US" sz="2000"/>
              <a:t>Legacy or Ultra-low-power may experience buffer overflow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A0E523-5301-D09A-313A-AC13B5678F86}"/>
              </a:ext>
            </a:extLst>
          </p:cNvPr>
          <p:cNvSpPr txBox="1">
            <a:spLocks/>
          </p:cNvSpPr>
          <p:nvPr/>
        </p:nvSpPr>
        <p:spPr>
          <a:xfrm>
            <a:off x="585772" y="1067250"/>
            <a:ext cx="3647559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>
                <a:solidFill>
                  <a:srgbClr val="03538C"/>
                </a:solidFill>
              </a:rPr>
              <a:t>Bluetooth Industrial</a:t>
            </a:r>
            <a:endParaRPr lang="en-US" sz="2000"/>
          </a:p>
        </p:txBody>
      </p:sp>
      <p:sp>
        <p:nvSpPr>
          <p:cNvPr id="8" name="Google Shape;69;p15">
            <a:extLst>
              <a:ext uri="{FF2B5EF4-FFF2-40B4-BE49-F238E27FC236}">
                <a16:creationId xmlns:a16="http://schemas.microsoft.com/office/drawing/2014/main" id="{A9C9AA26-2EF3-2325-A3CD-FDE08959A789}"/>
              </a:ext>
            </a:extLst>
          </p:cNvPr>
          <p:cNvSpPr txBox="1">
            <a:spLocks noGrp="1"/>
          </p:cNvSpPr>
          <p:nvPr/>
        </p:nvSpPr>
        <p:spPr>
          <a:xfrm>
            <a:off x="520398" y="3576534"/>
            <a:ext cx="5772623" cy="127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sz="2000"/>
              <a:t>30 – 40 kB</a:t>
            </a:r>
          </a:p>
          <a:p>
            <a:r>
              <a:rPr lang="en-US" altLang="en-US" sz="2000"/>
              <a:t>Stable queue size easily manageable by audio streaming applications </a:t>
            </a:r>
            <a:endParaRPr lang="en-US" sz="20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DB402F3-369D-0841-4EA2-D93A1A0D5970}"/>
              </a:ext>
            </a:extLst>
          </p:cNvPr>
          <p:cNvSpPr txBox="1">
            <a:spLocks/>
          </p:cNvSpPr>
          <p:nvPr/>
        </p:nvSpPr>
        <p:spPr>
          <a:xfrm>
            <a:off x="520398" y="3057920"/>
            <a:ext cx="3270026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>
                <a:solidFill>
                  <a:srgbClr val="03538C"/>
                </a:solidFill>
              </a:rPr>
              <a:t>Bluetooth Audio Streaming</a:t>
            </a:r>
            <a:endParaRPr lang="en-US" sz="2000"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2EED167C-EA10-37EB-BBAC-D18DC9D053E2}"/>
              </a:ext>
            </a:extLst>
          </p:cNvPr>
          <p:cNvSpPr txBox="1">
            <a:spLocks noGrp="1"/>
          </p:cNvSpPr>
          <p:nvPr/>
        </p:nvSpPr>
        <p:spPr>
          <a:xfrm>
            <a:off x="520398" y="5217086"/>
            <a:ext cx="5456583" cy="11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2 – 4 kB</a:t>
            </a:r>
          </a:p>
          <a:p>
            <a:r>
              <a:rPr lang="en-US" sz="2000"/>
              <a:t>Reference sensors would experience no buffer space issues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B31D16-0EBD-3A1F-30B1-0C642BAA1C49}"/>
              </a:ext>
            </a:extLst>
          </p:cNvPr>
          <p:cNvSpPr txBox="1">
            <a:spLocks/>
          </p:cNvSpPr>
          <p:nvPr/>
        </p:nvSpPr>
        <p:spPr>
          <a:xfrm>
            <a:off x="520398" y="4637882"/>
            <a:ext cx="3456638" cy="92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" sz="2000">
                <a:solidFill>
                  <a:srgbClr val="03538C"/>
                </a:solidFill>
              </a:rPr>
              <a:t> Bluetooth Sensors</a:t>
            </a:r>
            <a:endParaRPr lang="en-US" sz="2000"/>
          </a:p>
        </p:txBody>
      </p:sp>
      <p:pic>
        <p:nvPicPr>
          <p:cNvPr id="7" name="Picture 6" descr="A table of numbers and text&#10;&#10;AI-generated content may be incorrect.">
            <a:extLst>
              <a:ext uri="{FF2B5EF4-FFF2-40B4-BE49-F238E27FC236}">
                <a16:creationId xmlns:a16="http://schemas.microsoft.com/office/drawing/2014/main" id="{8EBE6FAE-073B-C649-4F8A-2A89F10F4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34154"/>
            <a:ext cx="5324328" cy="54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8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7F6F-9AD7-1EBF-BD8A-8BD36E9C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FD4951-3D12-AC2B-9F4A-09D028EE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">
                <a:solidFill>
                  <a:srgbClr val="03538C"/>
                </a:solidFill>
              </a:rPr>
              <a:t>  Conclusions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04B80B-7498-2B6C-83F5-A1BAD5DC63BD}"/>
              </a:ext>
            </a:extLst>
          </p:cNvPr>
          <p:cNvSpPr txBox="1">
            <a:spLocks/>
          </p:cNvSpPr>
          <p:nvPr/>
        </p:nvSpPr>
        <p:spPr>
          <a:xfrm>
            <a:off x="907781" y="2047203"/>
            <a:ext cx="8839120" cy="8768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rgbClr val="03538C"/>
                </a:solidFill>
              </a:rPr>
              <a:t>U-shaped performance:</a:t>
            </a:r>
            <a:endParaRPr lang="en-US" sz="2000"/>
          </a:p>
          <a:p>
            <a:r>
              <a:rPr lang="en-US" sz="2000"/>
              <a:t>Optimal P balances protocol overhead vs. retransmissions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A6F0072-D9F7-44E4-B9BB-6B2065BEE32D}"/>
              </a:ext>
            </a:extLst>
          </p:cNvPr>
          <p:cNvSpPr txBox="1">
            <a:spLocks/>
          </p:cNvSpPr>
          <p:nvPr/>
        </p:nvSpPr>
        <p:spPr>
          <a:xfrm>
            <a:off x="907781" y="2924071"/>
            <a:ext cx="8839120" cy="876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rgbClr val="03538C"/>
                </a:solidFill>
              </a:rPr>
              <a:t>Noise matters:</a:t>
            </a:r>
            <a:endParaRPr lang="en-US" sz="2000"/>
          </a:p>
          <a:p>
            <a:r>
              <a:rPr lang="en-US" sz="2000"/>
              <a:t>High-error environments shift optimum to smaller P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44E4050-C0F6-B347-3A39-F4E412F232A5}"/>
              </a:ext>
            </a:extLst>
          </p:cNvPr>
          <p:cNvSpPr txBox="1">
            <a:spLocks/>
          </p:cNvSpPr>
          <p:nvPr/>
        </p:nvSpPr>
        <p:spPr>
          <a:xfrm>
            <a:off x="907781" y="3800939"/>
            <a:ext cx="8839120" cy="876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rgbClr val="03538C"/>
                </a:solidFill>
              </a:rPr>
              <a:t>Fragmentation regime matters:</a:t>
            </a:r>
            <a:endParaRPr lang="en-US" sz="2000"/>
          </a:p>
          <a:p>
            <a:r>
              <a:rPr lang="en-US" sz="2000"/>
              <a:t>Low fragmentation: Protocol efficiency gains come at the cost of delay predictability</a:t>
            </a:r>
          </a:p>
        </p:txBody>
      </p:sp>
    </p:spTree>
    <p:extLst>
      <p:ext uri="{BB962C8B-B14F-4D97-AF65-F5344CB8AC3E}">
        <p14:creationId xmlns:p14="http://schemas.microsoft.com/office/powerpoint/2010/main" val="1563688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01893AC9229A4F9CF1EB9667AE552C" ma:contentTypeVersion="0" ma:contentTypeDescription="Create a new document." ma:contentTypeScope="" ma:versionID="b5033ae44885b2988605008f319b578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3BA114-E466-4F68-9CA5-FA3C0045D474}"/>
</file>

<file path=customXml/itemProps2.xml><?xml version="1.0" encoding="utf-8"?>
<ds:datastoreItem xmlns:ds="http://schemas.openxmlformats.org/officeDocument/2006/customXml" ds:itemID="{DE522008-D679-48E8-8904-19FFFB36B540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0a58a56a-c783-4184-ad89-99062d78265f"/>
  </ds:schemaRefs>
</ds:datastoreItem>
</file>

<file path=customXml/itemProps3.xml><?xml version="1.0" encoding="utf-8"?>
<ds:datastoreItem xmlns:ds="http://schemas.openxmlformats.org/officeDocument/2006/customXml" ds:itemID="{6FB974EB-B1DB-47E1-BB32-4CA0AE22C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Widescreen</PresentationFormat>
  <Paragraphs>118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  Introduction</vt:lpstr>
      <vt:lpstr>  Model, Assumption and Implementation</vt:lpstr>
      <vt:lpstr>  Scenarios</vt:lpstr>
      <vt:lpstr>PowerPoint Presentation</vt:lpstr>
      <vt:lpstr>  Data Analysis Methodology</vt:lpstr>
      <vt:lpstr>  End-to-End Delay (1/2)</vt:lpstr>
      <vt:lpstr>  End-to-End Delay (2/2)</vt:lpstr>
      <vt:lpstr>  Fairness and Predicatibility</vt:lpstr>
      <vt:lpstr>  Buffer Size Estimation</vt:lpstr>
      <vt:lpstr> 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Mykhaylo Semenyshen</dc:creator>
  <cp:lastModifiedBy>Mykhaylo Semenyshen</cp:lastModifiedBy>
  <cp:revision>1</cp:revision>
  <dcterms:created xsi:type="dcterms:W3CDTF">2026-01-09T14:10:30Z</dcterms:created>
  <dcterms:modified xsi:type="dcterms:W3CDTF">2026-01-15T19:17:38Z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0x010100E201893AC9229A4F9CF1EB9667AE552C</vt:lpwstr>
  </property>
</Properties>
</file>